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esh Chhabda" userId="dde45b57-5608-4b68-ab1e-cf4b6c61a08e" providerId="ADAL" clId="{F62BF703-454C-46DB-AF8E-EDEBE9FC759A}"/>
    <pc:docChg chg="undo custSel mod modSld">
      <pc:chgData name="Rakesh Chhabda" userId="dde45b57-5608-4b68-ab1e-cf4b6c61a08e" providerId="ADAL" clId="{F62BF703-454C-46DB-AF8E-EDEBE9FC759A}" dt="2026-09-15T03:22:39.035" v="31" actId="12788"/>
      <pc:docMkLst>
        <pc:docMk/>
      </pc:docMkLst>
      <pc:sldChg chg="addSp delSp modSp mod">
        <pc:chgData name="Rakesh Chhabda" userId="dde45b57-5608-4b68-ab1e-cf4b6c61a08e" providerId="ADAL" clId="{F62BF703-454C-46DB-AF8E-EDEBE9FC759A}" dt="2026-09-15T03:22:39.035" v="31" actId="12788"/>
        <pc:sldMkLst>
          <pc:docMk/>
          <pc:sldMk cId="0" sldId="256"/>
        </pc:sldMkLst>
        <pc:spChg chg="del">
          <ac:chgData name="Rakesh Chhabda" userId="dde45b57-5608-4b68-ab1e-cf4b6c61a08e" providerId="ADAL" clId="{F62BF703-454C-46DB-AF8E-EDEBE9FC759A}" dt="2026-09-15T03:19:45.575" v="2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Rakesh Chhabda" userId="dde45b57-5608-4b68-ab1e-cf4b6c61a08e" providerId="ADAL" clId="{F62BF703-454C-46DB-AF8E-EDEBE9FC759A}" dt="2026-09-15T03:19:59.018" v="5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Rakesh Chhabda" userId="dde45b57-5608-4b68-ab1e-cf4b6c61a08e" providerId="ADAL" clId="{F62BF703-454C-46DB-AF8E-EDEBE9FC759A}" dt="2026-09-15T03:22:07.073" v="29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Rakesh Chhabda" userId="dde45b57-5608-4b68-ab1e-cf4b6c61a08e" providerId="ADAL" clId="{F62BF703-454C-46DB-AF8E-EDEBE9FC759A}" dt="2026-09-15T03:22:39.035" v="31" actId="12788"/>
          <ac:spMkLst>
            <pc:docMk/>
            <pc:sldMk cId="0" sldId="256"/>
            <ac:spMk id="8" creationId="{00000000-0000-0000-0000-000000000000}"/>
          </ac:spMkLst>
        </pc:spChg>
        <pc:spChg chg="mod">
          <ac:chgData name="Rakesh Chhabda" userId="dde45b57-5608-4b68-ab1e-cf4b6c61a08e" providerId="ADAL" clId="{F62BF703-454C-46DB-AF8E-EDEBE9FC759A}" dt="2026-09-15T03:22:39.035" v="31" actId="12788"/>
          <ac:spMkLst>
            <pc:docMk/>
            <pc:sldMk cId="0" sldId="256"/>
            <ac:spMk id="9" creationId="{00000000-0000-0000-0000-000000000000}"/>
          </ac:spMkLst>
        </pc:spChg>
        <pc:spChg chg="mod">
          <ac:chgData name="Rakesh Chhabda" userId="dde45b57-5608-4b68-ab1e-cf4b6c61a08e" providerId="ADAL" clId="{F62BF703-454C-46DB-AF8E-EDEBE9FC759A}" dt="2026-09-15T03:22:39.035" v="31" actId="1278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Rakesh Chhabda" userId="dde45b57-5608-4b68-ab1e-cf4b6c61a08e" providerId="ADAL" clId="{F62BF703-454C-46DB-AF8E-EDEBE9FC759A}" dt="2026-09-15T03:22:39.035" v="31" actId="12788"/>
          <ac:spMkLst>
            <pc:docMk/>
            <pc:sldMk cId="0" sldId="256"/>
            <ac:spMk id="11" creationId="{00000000-0000-0000-0000-000000000000}"/>
          </ac:spMkLst>
        </pc:spChg>
        <pc:picChg chg="del">
          <ac:chgData name="Rakesh Chhabda" userId="dde45b57-5608-4b68-ab1e-cf4b6c61a08e" providerId="ADAL" clId="{F62BF703-454C-46DB-AF8E-EDEBE9FC759A}" dt="2026-09-15T03:19:42.843" v="1" actId="478"/>
          <ac:picMkLst>
            <pc:docMk/>
            <pc:sldMk cId="0" sldId="256"/>
            <ac:picMk id="4" creationId="{00000000-0000-0000-0000-000000000000}"/>
          </ac:picMkLst>
        </pc:picChg>
        <pc:picChg chg="add mod">
          <ac:chgData name="Rakesh Chhabda" userId="dde45b57-5608-4b68-ab1e-cf4b6c61a08e" providerId="ADAL" clId="{F62BF703-454C-46DB-AF8E-EDEBE9FC759A}" dt="2026-09-15T03:19:50.781" v="4" actId="1076"/>
          <ac:picMkLst>
            <pc:docMk/>
            <pc:sldMk cId="0" sldId="256"/>
            <ac:picMk id="13" creationId="{652C0AF7-D247-4C2C-059C-6C81394E38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264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777240" y="1965960"/>
            <a:ext cx="7040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Initiatives for Transparency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Better Process Control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2141965" y="3652611"/>
            <a:ext cx="3478080" cy="835429"/>
          </a:xfrm>
          <a:prstGeom prst="roundRect">
            <a:avLst>
              <a:gd name="adj" fmla="val 11290"/>
            </a:avLst>
          </a:prstGeom>
          <a:solidFill>
            <a:srgbClr val="141A47"/>
          </a:solidFill>
          <a:ln w="12700">
            <a:solidFill>
              <a:srgbClr val="3B469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2141965" y="3652611"/>
            <a:ext cx="3478080" cy="8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DEPARTMENT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082339" y="4707495"/>
            <a:ext cx="3597333" cy="1176252"/>
          </a:xfrm>
          <a:prstGeom prst="roundRect">
            <a:avLst>
              <a:gd name="adj" fmla="val 11290"/>
            </a:avLst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2082339" y="4707495"/>
            <a:ext cx="3597333" cy="1176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VADODARA DIVISION</a:t>
            </a:r>
            <a:endParaRPr 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2C0AF7-D247-4C2C-059C-6C81394E3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401" y="2225040"/>
            <a:ext cx="20193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AA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DEPARTMENT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in Procurement and Rake Allotment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505895" y="0"/>
            <a:ext cx="685800" cy="1051560"/>
          </a:xfrm>
          <a:prstGeom prst="rect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440680" cy="2907792"/>
          </a:xfrm>
          <a:prstGeom prst="roundRect">
            <a:avLst>
              <a:gd name="adj" fmla="val 2516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170188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0472" y="15361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through GeM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795528" y="2212848"/>
            <a:ext cx="487375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of materials required by the Operating Department is being done through GeM, as applicable.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Requirement, specification, availability of item and procurement process are recorded through the GeM system.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procurement provides a clear record of the procurement process and reduces scope for manual intervention.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99632" y="1298448"/>
            <a:ext cx="5440680" cy="2907792"/>
          </a:xfrm>
          <a:prstGeom prst="roundRect">
            <a:avLst>
              <a:gd name="adj" fmla="val 2516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473952" y="1554480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r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353" y="170188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87184" y="15361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Rake Allotment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212848"/>
            <a:ext cx="487375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 allotment is being monitored against the indents/demand received from loading points and terminals.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Allotment is made keeping in view the operational requirement, availability of rakes and priority of traffic.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recording of demand and allotment provides transparency in the rake allotment process.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430682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PROCUREMENT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 txBox="1"/>
          <p:nvPr/>
        </p:nvSpPr>
        <p:spPr>
          <a:xfrm>
            <a:off x="557784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547622" y="4764024"/>
            <a:ext cx="274320" cy="164592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1840230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 txBox="1"/>
          <p:nvPr/>
        </p:nvSpPr>
        <p:spPr>
          <a:xfrm>
            <a:off x="1895094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884932" y="4764024"/>
            <a:ext cx="274320" cy="164592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3177540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 txBox="1"/>
          <p:nvPr/>
        </p:nvSpPr>
        <p:spPr>
          <a:xfrm>
            <a:off x="3232404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222242" y="4764024"/>
            <a:ext cx="274320" cy="164592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4514850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 txBox="1"/>
          <p:nvPr/>
        </p:nvSpPr>
        <p:spPr>
          <a:xfrm>
            <a:off x="4569714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6199632" y="430682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 ALLOTMENT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199632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 txBox="1"/>
          <p:nvPr/>
        </p:nvSpPr>
        <p:spPr>
          <a:xfrm>
            <a:off x="6254496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 / Demand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7244334" y="4764024"/>
            <a:ext cx="274320" cy="164592"/>
          </a:xfrm>
          <a:prstGeom prst="rightArrow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7536942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 txBox="1"/>
          <p:nvPr/>
        </p:nvSpPr>
        <p:spPr>
          <a:xfrm>
            <a:off x="7591806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 Availability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581644" y="4764024"/>
            <a:ext cx="274320" cy="164592"/>
          </a:xfrm>
          <a:prstGeom prst="rightArrow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1"/>
          <p:cNvSpPr/>
          <p:nvPr/>
        </p:nvSpPr>
        <p:spPr>
          <a:xfrm>
            <a:off x="8874252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 txBox="1"/>
          <p:nvPr/>
        </p:nvSpPr>
        <p:spPr>
          <a:xfrm>
            <a:off x="8929116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Allotment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9918954" y="4764024"/>
            <a:ext cx="274320" cy="164592"/>
          </a:xfrm>
          <a:prstGeom prst="rightArrow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10211562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 txBox="1"/>
          <p:nvPr/>
        </p:nvSpPr>
        <p:spPr>
          <a:xfrm>
            <a:off x="10266426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502920" y="589788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C8102E"/>
          </a:solidFill>
          <a:ln/>
          <a:effectLst>
            <a:outerShdw blurRad="63500" dist="25400" dir="5400000" algn="bl" rotWithShape="0">
              <a:srgbClr val="990011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7"/>
          <p:cNvSpPr txBox="1"/>
          <p:nvPr/>
        </p:nvSpPr>
        <p:spPr>
          <a:xfrm>
            <a:off x="777240" y="58978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kern="0" spc="150" dirty="0">
                <a:solidFill>
                  <a:srgbClr val="F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GeM and proper recording of rake demand and allotment brings greater transparency in procurement and rake allotment.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AA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DEPARTMENT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in Staff Posting &amp; Rake Placement/Release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505895" y="0"/>
            <a:ext cx="685800" cy="1051560"/>
          </a:xfrm>
          <a:prstGeom prst="rect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5440680" cy="2907792"/>
          </a:xfrm>
          <a:prstGeom prst="roundRect">
            <a:avLst>
              <a:gd name="adj" fmla="val 2516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77240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sta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170188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0472" y="15361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&amp; Promotion of Operating Staff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795528" y="2212848"/>
            <a:ext cx="487375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Transfer/posting and promotion cases are processed on the basis of vacancy position, eligibility and applicable service conditions.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records are maintained for vacancies, eligibility and processing of cases.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transparency in the process helps in ensuring fairness and accountability in staff posting and promotion.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99632" y="1298448"/>
            <a:ext cx="5440680" cy="2907792"/>
          </a:xfrm>
          <a:prstGeom prst="roundRect">
            <a:avLst>
              <a:gd name="adj" fmla="val 2516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473952" y="1554480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si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353" y="170188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87184" y="15361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&amp; Removal of Rakes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212848"/>
            <a:ext cx="487375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and removal/release of rakes from sidings and goods sheds is being closely monitored.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coordination is maintained with terminals, sidings and concerned staff for timely placement and release of rakes.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of placement and release helps in avoiding unnecessary detention of rakes and improving utilisation of available resources.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430682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TRANSFER / PROMOTION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 txBox="1"/>
          <p:nvPr/>
        </p:nvSpPr>
        <p:spPr>
          <a:xfrm>
            <a:off x="557784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Vacancy Position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547622" y="4764024"/>
            <a:ext cx="274320" cy="164592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1840230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 txBox="1"/>
          <p:nvPr/>
        </p:nvSpPr>
        <p:spPr>
          <a:xfrm>
            <a:off x="1895094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884932" y="4764024"/>
            <a:ext cx="274320" cy="164592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3177540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 txBox="1"/>
          <p:nvPr/>
        </p:nvSpPr>
        <p:spPr>
          <a:xfrm>
            <a:off x="3232404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Processing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222242" y="4764024"/>
            <a:ext cx="274320" cy="164592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4514850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 txBox="1"/>
          <p:nvPr/>
        </p:nvSpPr>
        <p:spPr>
          <a:xfrm>
            <a:off x="4569714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/ Promotion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6199632" y="430682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 PLACEMENT / RELEASE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199632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 txBox="1"/>
          <p:nvPr/>
        </p:nvSpPr>
        <p:spPr>
          <a:xfrm>
            <a:off x="6254496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 Allotment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7244334" y="4764024"/>
            <a:ext cx="274320" cy="164592"/>
          </a:xfrm>
          <a:prstGeom prst="rightArrow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8"/>
          <p:cNvSpPr/>
          <p:nvPr/>
        </p:nvSpPr>
        <p:spPr>
          <a:xfrm>
            <a:off x="7536942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 txBox="1"/>
          <p:nvPr/>
        </p:nvSpPr>
        <p:spPr>
          <a:xfrm>
            <a:off x="7591806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at Siding/Shed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581644" y="4764024"/>
            <a:ext cx="274320" cy="164592"/>
          </a:xfrm>
          <a:prstGeom prst="rightArrow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1"/>
          <p:cNvSpPr/>
          <p:nvPr/>
        </p:nvSpPr>
        <p:spPr>
          <a:xfrm>
            <a:off x="8874252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 txBox="1"/>
          <p:nvPr/>
        </p:nvSpPr>
        <p:spPr>
          <a:xfrm>
            <a:off x="8929116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Loading/Unloading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9918954" y="4764024"/>
            <a:ext cx="274320" cy="164592"/>
          </a:xfrm>
          <a:prstGeom prst="rightArrow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10211562" y="4617720"/>
            <a:ext cx="102641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 txBox="1"/>
          <p:nvPr/>
        </p:nvSpPr>
        <p:spPr>
          <a:xfrm>
            <a:off x="10266426" y="4617720"/>
            <a:ext cx="9166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of Rake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502920" y="589788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C8102E"/>
          </a:solidFill>
          <a:ln/>
          <a:effectLst>
            <a:outerShdw blurRad="63500" dist="25400" dir="5400000" algn="bl" rotWithShape="0">
              <a:srgbClr val="990011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7"/>
          <p:cNvSpPr txBox="1"/>
          <p:nvPr/>
        </p:nvSpPr>
        <p:spPr>
          <a:xfrm>
            <a:off x="777240" y="58978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kern="0" spc="150" dirty="0">
                <a:solidFill>
                  <a:srgbClr val="F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procedure and proper records improve transparency in staff matters, while close monitoring of placement and release improves rake utilisation.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0292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AA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DEPARTMENT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Procurement of Services &amp; Further Improvements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505895" y="0"/>
            <a:ext cx="685800" cy="1051560"/>
          </a:xfrm>
          <a:prstGeom prst="rect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6309360" cy="3703320"/>
          </a:xfrm>
          <a:prstGeom prst="roundRect">
            <a:avLst>
              <a:gd name="adj" fmla="val 1975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95528" y="144475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Procurement through GeM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95528" y="18288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icons/vehi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6" y="1923898"/>
            <a:ext cx="175565" cy="17556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62456" y="1792224"/>
            <a:ext cx="5138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of vehicles for Operating Department requirements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5528" y="22494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icons/runningro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26" y="2344522"/>
            <a:ext cx="175565" cy="1755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62456" y="2212848"/>
            <a:ext cx="5138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of Running Room services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" y="26700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icons/compu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626" y="2765146"/>
            <a:ext cx="175565" cy="17556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62456" y="2633472"/>
            <a:ext cx="5138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of computers and other IT equipment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95528" y="3145536"/>
            <a:ext cx="5724144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 txBox="1"/>
          <p:nvPr/>
        </p:nvSpPr>
        <p:spPr>
          <a:xfrm>
            <a:off x="795528" y="3291840"/>
            <a:ext cx="574243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requirements are processed through GeM, wherever applicable, following the prescribed procurement procedure.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work, service requirements, eligibility conditions and contract conditions are clearly specified.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GeM-based tendering provides a transparent procurement process and proper record of the tender/contract.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967728" y="1298448"/>
            <a:ext cx="4672584" cy="3703320"/>
          </a:xfrm>
          <a:prstGeom prst="roundRect">
            <a:avLst>
              <a:gd name="adj" fmla="val 1975"/>
            </a:avLst>
          </a:prstGeom>
          <a:solidFill>
            <a:srgbClr val="F3F5F8"/>
          </a:solidFill>
          <a:ln w="12700">
            <a:solidFill>
              <a:srgbClr val="E1E5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242048" y="1554480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icons/re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9449" y="170188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955280" y="1536192"/>
            <a:ext cx="3438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Improvement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7260336" y="2212848"/>
            <a:ext cx="410565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existing procedures to reduce unnecessary manual work and duplication.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use of system records and standard formats for monitoring and reporting.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of checks and documentation to improve accountability and compliance.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49194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PROCUREMENT FLOW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02920" y="5230368"/>
            <a:ext cx="246270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 txBox="1"/>
          <p:nvPr/>
        </p:nvSpPr>
        <p:spPr>
          <a:xfrm>
            <a:off x="557784" y="5230368"/>
            <a:ext cx="2352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Hiring / Running Room / Computer AMC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2983916" y="5340096"/>
            <a:ext cx="274320" cy="164592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3276524" y="5230368"/>
            <a:ext cx="246270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 txBox="1"/>
          <p:nvPr/>
        </p:nvSpPr>
        <p:spPr>
          <a:xfrm>
            <a:off x="3331388" y="5230368"/>
            <a:ext cx="2352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/ Transparent Tender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757520" y="5340096"/>
            <a:ext cx="274320" cy="164592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6050128" y="5230368"/>
            <a:ext cx="246270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 txBox="1"/>
          <p:nvPr/>
        </p:nvSpPr>
        <p:spPr>
          <a:xfrm>
            <a:off x="6104992" y="5230368"/>
            <a:ext cx="2352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Records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8531123" y="5340096"/>
            <a:ext cx="274320" cy="164592"/>
          </a:xfrm>
          <a:prstGeom prst="rightArrow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8"/>
          <p:cNvSpPr/>
          <p:nvPr/>
        </p:nvSpPr>
        <p:spPr>
          <a:xfrm>
            <a:off x="8823731" y="5230368"/>
            <a:ext cx="246270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 txBox="1"/>
          <p:nvPr/>
        </p:nvSpPr>
        <p:spPr>
          <a:xfrm>
            <a:off x="8878595" y="5230368"/>
            <a:ext cx="2352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Accountability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02920" y="5897880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C8102E"/>
          </a:solidFill>
          <a:ln/>
          <a:effectLst>
            <a:outerShdw blurRad="63500" dist="25400" dir="5400000" algn="bl" rotWithShape="0">
              <a:srgbClr val="990011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1"/>
          <p:cNvSpPr txBox="1"/>
          <p:nvPr/>
        </p:nvSpPr>
        <p:spPr>
          <a:xfrm>
            <a:off x="777240" y="58978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kern="0" spc="150" dirty="0">
                <a:solidFill>
                  <a:srgbClr val="F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GeM-based procurement of services, along with regular review of working procedures, is helping to improve transparency, documentation and accountability.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510</Words>
  <Application>Microsoft Office PowerPoint</Application>
  <PresentationFormat>Widescreen</PresentationFormat>
  <Paragraphs>69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Rakesh Chhabda</cp:lastModifiedBy>
  <cp:revision>1</cp:revision>
  <dcterms:created xsi:type="dcterms:W3CDTF">2026-09-15T01:23:05Z</dcterms:created>
  <dcterms:modified xsi:type="dcterms:W3CDTF">2026-09-15T03:22:49Z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2026-09-15T03:19:50Z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359555b7-10fc-459f-8925-e162ae4f6659</vt:lpwstr>
  </property>
  <property fmtid="{D5CDD505-2E9C-101B-9397-08002B2CF9AE}" pid="7" name="MSIP_Label_defa4170-0d19-0005-0004-bc88714345d2_ActionId">
    <vt:lpwstr>9e8543fc-00b2-4257-9fdf-576d02aff262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